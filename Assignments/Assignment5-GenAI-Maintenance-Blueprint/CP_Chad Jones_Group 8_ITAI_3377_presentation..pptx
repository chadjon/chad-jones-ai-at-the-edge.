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56" r:id="rId5"/>
    <p:sldId id="271" r:id="rId6"/>
    <p:sldId id="279" r:id="rId7"/>
    <p:sldId id="281" r:id="rId8"/>
    <p:sldId id="280" r:id="rId9"/>
    <p:sldId id="257" r:id="rId10"/>
    <p:sldId id="275" r:id="rId11"/>
    <p:sldId id="276" r:id="rId12"/>
    <p:sldId id="282" r:id="rId13"/>
    <p:sldId id="28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Morph, Annotate, Work Together, Tell Me" id="{B9B51309-D148-4332-87C2-07BE32FBCA3B}">
          <p14:sldIdLst>
            <p14:sldId id="271"/>
            <p14:sldId id="279"/>
            <p14:sldId id="281"/>
            <p14:sldId id="280"/>
            <p14:sldId id="257"/>
            <p14:sldId id="275"/>
            <p14:sldId id="276"/>
          </p14:sldIdLst>
        </p14:section>
        <p14:section name="Learn More" id="{2CC34DB2-6590-42C0-AD4B-A04C6060184E}">
          <p14:sldIdLst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41" autoAdjust="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5/2/2026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5/2/2026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780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dreamstime.com/ar-overlay-smart-manufacturing-floor-automated-machinery-ar-overlay-smart-manufacturing-floor-automated-machinery-image327748836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1575603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nmonthly.com.au/smart-factories-need-smart-systems-the-role-of-cloud-erp-in-industry-4-0/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ruedyne.com/rethink-education-philipp-gurtner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iabac.org/blog/data-security-in-the-age-of-analytics-safeguarding-business-intelligence?ref=optimizdba.com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iabac.org/blog/ai-and-privacy-balancing-innovation-with-data-protection" TargetMode="External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03EA9AF-C627-42C9-832C-3E147FFE0E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992472" y="3454519"/>
            <a:ext cx="4842536" cy="30548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2792" y="576633"/>
            <a:ext cx="10515600" cy="2387600"/>
          </a:xfrm>
        </p:spPr>
        <p:txBody>
          <a:bodyPr anchor="ctr" anchorCtr="0">
            <a:normAutofit/>
          </a:bodyPr>
          <a:lstStyle/>
          <a:p>
            <a:pPr algn="l"/>
            <a:r>
              <a:rPr lang="en-US" sz="4400" b="0" i="0" dirty="0">
                <a:solidFill>
                  <a:srgbClr val="D4D4D4"/>
                </a:solidFill>
                <a:effectLst/>
                <a:latin typeface="Inter"/>
              </a:rPr>
              <a:t>Project Aegis: Autonomous </a:t>
            </a:r>
            <a:r>
              <a:rPr lang="en-US" sz="4400" b="0" i="0" dirty="0" err="1">
                <a:solidFill>
                  <a:srgbClr val="D4D4D4"/>
                </a:solidFill>
                <a:effectLst/>
                <a:latin typeface="Inter"/>
              </a:rPr>
              <a:t>GenAI</a:t>
            </a:r>
            <a:r>
              <a:rPr lang="en-US" sz="4400" b="0" i="0" dirty="0">
                <a:solidFill>
                  <a:srgbClr val="D4D4D4"/>
                </a:solidFill>
                <a:effectLst/>
                <a:latin typeface="Inter"/>
              </a:rPr>
              <a:t> Agent for Industrial Predictive Maintenance</a:t>
            </a:r>
            <a:br>
              <a:rPr lang="en-US" sz="4400" b="0" i="0" dirty="0">
                <a:solidFill>
                  <a:srgbClr val="D4D4D4"/>
                </a:solidFill>
                <a:effectLst/>
                <a:latin typeface="Inter"/>
              </a:rPr>
            </a:br>
            <a:endParaRPr lang="en-US" sz="4400" b="0" i="0" dirty="0">
              <a:solidFill>
                <a:srgbClr val="D4D4D4"/>
              </a:solidFill>
              <a:effectLst/>
              <a:latin typeface="Inter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959224" y="2532648"/>
            <a:ext cx="9582736" cy="11377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0" i="0" dirty="0">
                <a:solidFill>
                  <a:srgbClr val="D4D4D4"/>
                </a:solidFill>
                <a:effectLst/>
                <a:latin typeface="Inter"/>
              </a:rPr>
              <a:t> Integrating SLMs with Edge </a:t>
            </a:r>
            <a:r>
              <a:rPr lang="en-US" sz="2400" b="0" i="0" dirty="0" err="1">
                <a:solidFill>
                  <a:srgbClr val="D4D4D4"/>
                </a:solidFill>
                <a:effectLst/>
                <a:latin typeface="Inter"/>
              </a:rPr>
              <a:t>IIoT</a:t>
            </a:r>
            <a:r>
              <a:rPr lang="en-US" sz="2400" b="0" i="0" dirty="0">
                <a:solidFill>
                  <a:srgbClr val="D4D4D4"/>
                </a:solidFill>
                <a:effectLst/>
                <a:latin typeface="Inter"/>
              </a:rPr>
              <a:t> for Real-Time Factory Intelligence</a:t>
            </a:r>
            <a:br>
              <a:rPr lang="en-US" sz="2400" b="0" i="0" dirty="0">
                <a:solidFill>
                  <a:srgbClr val="D4D4D4"/>
                </a:solidFill>
                <a:effectLst/>
                <a:latin typeface="Inter"/>
              </a:rPr>
            </a:br>
            <a:endParaRPr lang="en-US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7F384A-5F59-4C39-A073-09653856B7D7}"/>
              </a:ext>
            </a:extLst>
          </p:cNvPr>
          <p:cNvSpPr txBox="1"/>
          <p:nvPr/>
        </p:nvSpPr>
        <p:spPr>
          <a:xfrm>
            <a:off x="2299447" y="4418055"/>
            <a:ext cx="8875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dirty="0">
                <a:solidFill>
                  <a:srgbClr val="D4D4D4"/>
                </a:solidFill>
                <a:effectLst/>
                <a:latin typeface="Inter"/>
              </a:rPr>
              <a:t> Chad Jones | ITAI 3377 | Capstone 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b="1" i="0" dirty="0">
                <a:solidFill>
                  <a:srgbClr val="FF0000"/>
                </a:solidFill>
                <a:effectLst/>
                <a:latin typeface="Inter"/>
              </a:rPr>
              <a:t>The Problem &amp; The Vision</a:t>
            </a:r>
          </a:p>
        </p:txBody>
      </p:sp>
      <p:sp>
        <p:nvSpPr>
          <p:cNvPr id="38" name="Content Placeholder 17"/>
          <p:cNvSpPr txBox="1">
            <a:spLocks/>
          </p:cNvSpPr>
          <p:nvPr/>
        </p:nvSpPr>
        <p:spPr>
          <a:xfrm>
            <a:off x="521207" y="1493241"/>
            <a:ext cx="4321704" cy="38715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chemeClr val="tx1"/>
                </a:solidFill>
                <a:effectLst/>
                <a:latin typeface="Inter"/>
              </a:rPr>
              <a:t>Current Issue: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Inter"/>
              </a:rPr>
              <a:t> Most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Inter"/>
              </a:rPr>
              <a:t>IIoT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Inter"/>
              </a:rPr>
              <a:t> systems are "dumb." They send an alert only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Inter"/>
              </a:rPr>
              <a:t>after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Inter"/>
              </a:rPr>
              <a:t> a machine breaks, or when a sensor hits a simple threshold (e.g., Temp &gt; 100°C).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chemeClr val="tx1"/>
                </a:solidFill>
                <a:effectLst/>
                <a:latin typeface="Inter"/>
              </a:rPr>
              <a:t>The Vision: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Inter"/>
              </a:rPr>
              <a:t> Create an autonomous agent that does not just read numbers, but 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Inter"/>
              </a:rPr>
              <a:t>understands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Inter"/>
              </a:rPr>
              <a:t> machine behavior using Generative AI.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chemeClr val="tx1"/>
                </a:solidFill>
                <a:effectLst/>
                <a:latin typeface="Inter"/>
              </a:rPr>
              <a:t>The Goal: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Inter"/>
              </a:rPr>
              <a:t> Shift from Reactive Maintenance to </a:t>
            </a:r>
            <a:r>
              <a:rPr lang="en-US" sz="1800" b="1" i="0" dirty="0">
                <a:solidFill>
                  <a:srgbClr val="FF0000"/>
                </a:solidFill>
                <a:effectLst/>
                <a:latin typeface="Inter"/>
              </a:rPr>
              <a:t>Autonomous Reasoning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Inter"/>
              </a:rPr>
              <a:t>. 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Inter"/>
              </a:rPr>
              <a:t>The system detects a subtle pattern, reasons through the cause, and schedules the fix without human input.</a:t>
            </a:r>
          </a:p>
          <a:p>
            <a:pPr marL="0" lvl="0" indent="0">
              <a:spcAft>
                <a:spcPts val="600"/>
              </a:spcAft>
              <a:buNone/>
              <a:defRPr/>
            </a:pPr>
            <a:endParaRPr lang="en-US" sz="18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31D5E1-0B23-4316-B835-9F1320E982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448042" y="1493241"/>
            <a:ext cx="6074834" cy="404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FF0000"/>
                </a:solidFill>
                <a:effectLst/>
                <a:latin typeface="Inter"/>
              </a:rPr>
              <a:t>Project Scope &amp; Objectives</a:t>
            </a:r>
          </a:p>
        </p:txBody>
      </p:sp>
      <p:sp>
        <p:nvSpPr>
          <p:cNvPr id="25" name="Content Placeholder 17"/>
          <p:cNvSpPr txBox="1">
            <a:spLocks/>
          </p:cNvSpPr>
          <p:nvPr/>
        </p:nvSpPr>
        <p:spPr>
          <a:xfrm>
            <a:off x="541609" y="1455491"/>
            <a:ext cx="5100635" cy="471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</a:t>
            </a:r>
          </a:p>
        </p:txBody>
      </p:sp>
      <p:sp>
        <p:nvSpPr>
          <p:cNvPr id="21" name="Content Placeholder 17"/>
          <p:cNvSpPr txBox="1">
            <a:spLocks/>
          </p:cNvSpPr>
          <p:nvPr/>
        </p:nvSpPr>
        <p:spPr>
          <a:xfrm>
            <a:off x="1056513" y="1958189"/>
            <a:ext cx="4585731" cy="596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Font typeface="Wingdings" panose="05000000000000000000" pitchFamily="2" charset="2"/>
              <a:buChar char="v"/>
              <a:defRPr/>
            </a:pP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nter"/>
              </a:rPr>
              <a:t>CNC Milling Machines in a smart factory environment.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cs typeface="Segoe UI"/>
            </a:endParaRPr>
          </a:p>
        </p:txBody>
      </p:sp>
      <p:sp>
        <p:nvSpPr>
          <p:cNvPr id="36" name="Content Placeholder 17"/>
          <p:cNvSpPr txBox="1">
            <a:spLocks/>
          </p:cNvSpPr>
          <p:nvPr/>
        </p:nvSpPr>
        <p:spPr>
          <a:xfrm>
            <a:off x="521207" y="2718081"/>
            <a:ext cx="4504252" cy="10658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2000"/>
              </a:spcAft>
              <a:buNone/>
              <a:defRPr/>
            </a:pPr>
            <a:r>
              <a:rPr lang="en-US" sz="14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Deliverables: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Content Placeholder 17"/>
          <p:cNvSpPr txBox="1">
            <a:spLocks/>
          </p:cNvSpPr>
          <p:nvPr/>
        </p:nvSpPr>
        <p:spPr>
          <a:xfrm>
            <a:off x="1056513" y="4236460"/>
            <a:ext cx="4504252" cy="761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cs typeface="Segoe U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24341E-C385-4A12-99A4-74B5B8006049}"/>
              </a:ext>
            </a:extLst>
          </p:cNvPr>
          <p:cNvSpPr txBox="1"/>
          <p:nvPr/>
        </p:nvSpPr>
        <p:spPr>
          <a:xfrm>
            <a:off x="1168572" y="3250990"/>
            <a:ext cx="49274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nter"/>
              </a:rPr>
              <a:t>Design an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Inter"/>
              </a:rPr>
              <a:t>Edge-based</a:t>
            </a: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nter"/>
              </a:rPr>
              <a:t> architecture to minimize data latency.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nter"/>
              </a:rPr>
              <a:t>Deploy a "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Inter"/>
              </a:rPr>
              <a:t>Small Language Model</a:t>
            </a: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nter"/>
              </a:rPr>
              <a:t>" (SLM) capable of interpreting telemetry.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nter"/>
              </a:rPr>
              <a:t>Automate the ticketing process via API integration.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" name="Content Placeholder 17">
            <a:extLst>
              <a:ext uri="{FF2B5EF4-FFF2-40B4-BE49-F238E27FC236}">
                <a16:creationId xmlns:a16="http://schemas.microsoft.com/office/drawing/2014/main" id="{493BBE0A-1154-495C-8F45-EE3A45A7C2D1}"/>
              </a:ext>
            </a:extLst>
          </p:cNvPr>
          <p:cNvSpPr txBox="1">
            <a:spLocks/>
          </p:cNvSpPr>
          <p:nvPr/>
        </p:nvSpPr>
        <p:spPr>
          <a:xfrm>
            <a:off x="541609" y="4869600"/>
            <a:ext cx="4504252" cy="10658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2000"/>
              </a:spcAft>
              <a:buNone/>
              <a:defRPr/>
            </a:pPr>
            <a:r>
              <a:rPr lang="en-US" sz="14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nter"/>
              </a:rPr>
              <a:t>Success Metric: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D5F1FAB-4127-407A-9157-827F7C752AD8}"/>
              </a:ext>
            </a:extLst>
          </p:cNvPr>
          <p:cNvSpPr txBox="1"/>
          <p:nvPr/>
        </p:nvSpPr>
        <p:spPr>
          <a:xfrm>
            <a:off x="1250701" y="5272756"/>
            <a:ext cx="49274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nter"/>
              </a:rPr>
              <a:t>Reducing unplanned machine downtime by an estimated 25% through early-stage "reasoning."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A7F0BE-C02B-4BB3-AB27-5331D5A6DF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269857" y="2062679"/>
            <a:ext cx="5350940" cy="344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00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dirty="0">
                <a:solidFill>
                  <a:srgbClr val="FF0000"/>
                </a:solidFill>
                <a:effectLst/>
                <a:latin typeface="Inter"/>
              </a:rPr>
              <a:t>Conceptual System Architecture</a:t>
            </a:r>
            <a:endParaRPr lang="en-US" dirty="0">
              <a:solidFill>
                <a:srgbClr val="FF0000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4294967295"/>
          </p:nvPr>
        </p:nvSpPr>
        <p:spPr>
          <a:xfrm>
            <a:off x="541610" y="1431010"/>
            <a:ext cx="4557164" cy="4790886"/>
          </a:xfrm>
        </p:spPr>
        <p:txBody>
          <a:bodyPr vert="horz" lIns="91440" tIns="45720" rIns="91440" bIns="45720" rtlCol="0"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6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Layer 1: Perception (Sensors):</a:t>
            </a: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Vibration (Piezoelectric), Temperature (Thermocouples), and Acoustic sensors.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6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Layer 2: Edge Gateway:</a:t>
            </a: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 industrial PC running a local MQTT Broker (</a:t>
            </a:r>
            <a:r>
              <a:rPr lang="en-US" sz="16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Mosquitto</a:t>
            </a: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 This acts as the "site brain."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6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Layer 3: The AI Agent:</a:t>
            </a: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 quantized model (e.g., Phi-3) that processes JSON data packets from the sensors.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6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Layer 4: Action:</a:t>
            </a: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Connection to the factory ERP system to generate work orders automatically.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A717150-0DB6-4159-BA8E-D9DE036FFCCC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298140" y="1707777"/>
            <a:ext cx="6352249" cy="4303058"/>
          </a:xfrm>
        </p:spPr>
      </p:pic>
    </p:spTree>
    <p:extLst>
      <p:ext uri="{BB962C8B-B14F-4D97-AF65-F5344CB8AC3E}">
        <p14:creationId xmlns:p14="http://schemas.microsoft.com/office/powerpoint/2010/main" val="95803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FF0000"/>
                </a:solidFill>
                <a:effectLst/>
                <a:latin typeface="Inter"/>
              </a:rPr>
              <a:t>Data Flows &amp; Protocols (The </a:t>
            </a:r>
            <a:r>
              <a:rPr lang="en-US" b="1" i="0" dirty="0" err="1">
                <a:solidFill>
                  <a:srgbClr val="FF0000"/>
                </a:solidFill>
                <a:effectLst/>
                <a:latin typeface="Inter"/>
              </a:rPr>
              <a:t>Technicals</a:t>
            </a:r>
            <a:r>
              <a:rPr lang="en-US" b="1" i="0" dirty="0">
                <a:solidFill>
                  <a:srgbClr val="FF0000"/>
                </a:solidFill>
                <a:effectLst/>
                <a:latin typeface="Inter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22848E-A9EC-4B7B-93F0-33F19C001C33}"/>
              </a:ext>
            </a:extLst>
          </p:cNvPr>
          <p:cNvSpPr txBox="1"/>
          <p:nvPr/>
        </p:nvSpPr>
        <p:spPr>
          <a:xfrm>
            <a:off x="705969" y="2028616"/>
            <a:ext cx="432322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6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nter"/>
              </a:rPr>
              <a:t>Protocol:</a:t>
            </a: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nter"/>
              </a:rPr>
              <a:t> </a:t>
            </a:r>
            <a:r>
              <a:rPr lang="en-US" sz="16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nter"/>
              </a:rPr>
              <a:t>MQTT (Message Queuing Telemetry Transport)</a:t>
            </a: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nter"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sz="1600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Inter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nter"/>
              </a:rPr>
              <a:t>Why? Because it is lightweight and handles unstable factory Wi-Fi better than HTTP.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Inter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sz="1600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Inter"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6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nter"/>
              </a:rPr>
              <a:t>Payloads:</a:t>
            </a: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nter"/>
              </a:rPr>
              <a:t> Data is sent in </a:t>
            </a:r>
            <a:r>
              <a:rPr lang="en-US" sz="16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nter"/>
              </a:rPr>
              <a:t>JSON format</a:t>
            </a: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nter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16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Inter"/>
            </a:endParaRPr>
          </a:p>
          <a:p>
            <a:pPr algn="l"/>
            <a:endParaRPr 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16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Inter"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6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nter"/>
              </a:rPr>
              <a:t>The Loop:</a:t>
            </a: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nter"/>
              </a:rPr>
              <a:t> 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Inter"/>
              </a:rPr>
              <a:t>Sensor</a:t>
            </a: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nter"/>
              </a:rPr>
              <a:t> → </a:t>
            </a:r>
            <a:r>
              <a:rPr lang="en-US" sz="1600" b="0" i="0" dirty="0">
                <a:effectLst/>
                <a:latin typeface="Inter"/>
              </a:rPr>
              <a:t>Publisher</a:t>
            </a: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nter"/>
              </a:rPr>
              <a:t> →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Inter"/>
              </a:rPr>
              <a:t>MQTT Broker </a:t>
            </a: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nter"/>
              </a:rPr>
              <a:t>→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Inter"/>
              </a:rPr>
              <a:t>Subscriber (AI Agent) </a:t>
            </a: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nter"/>
              </a:rPr>
              <a:t>→ </a:t>
            </a:r>
            <a:r>
              <a:rPr lang="en-US" sz="1600" b="0" i="0" dirty="0">
                <a:effectLst/>
                <a:latin typeface="Inter"/>
              </a:rPr>
              <a:t>Action Command.</a:t>
            </a:r>
          </a:p>
          <a:p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BFA95D-D381-4803-9FCF-EF51EEE05167}"/>
              </a:ext>
            </a:extLst>
          </p:cNvPr>
          <p:cNvSpPr/>
          <p:nvPr/>
        </p:nvSpPr>
        <p:spPr>
          <a:xfrm>
            <a:off x="5849468" y="1638651"/>
            <a:ext cx="1237130" cy="640080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Sensor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ABF977E-1AF9-4A5F-A195-A69FAA79FE31}"/>
              </a:ext>
            </a:extLst>
          </p:cNvPr>
          <p:cNvSpPr/>
          <p:nvPr/>
        </p:nvSpPr>
        <p:spPr>
          <a:xfrm>
            <a:off x="8243046" y="2081745"/>
            <a:ext cx="1237130" cy="779930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Publisher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5A140ED-D3B4-4B90-8CAE-2F666479BBDC}"/>
              </a:ext>
            </a:extLst>
          </p:cNvPr>
          <p:cNvSpPr/>
          <p:nvPr/>
        </p:nvSpPr>
        <p:spPr>
          <a:xfrm>
            <a:off x="10582835" y="2469679"/>
            <a:ext cx="1237130" cy="1183341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MQTT </a:t>
            </a:r>
            <a:br>
              <a:rPr lang="en-US" dirty="0"/>
            </a:br>
            <a:r>
              <a:rPr lang="en-US" dirty="0"/>
              <a:t>Broker</a:t>
            </a:r>
          </a:p>
        </p:txBody>
      </p: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70169D1A-C3C9-4C57-AFCB-9464753A272E}"/>
              </a:ext>
            </a:extLst>
          </p:cNvPr>
          <p:cNvSpPr/>
          <p:nvPr/>
        </p:nvSpPr>
        <p:spPr>
          <a:xfrm>
            <a:off x="6843430" y="4224548"/>
            <a:ext cx="1723466" cy="1304364"/>
          </a:xfrm>
          <a:prstGeom prst="parallelogram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Suscriber</a:t>
            </a:r>
            <a:br>
              <a:rPr lang="en-US" dirty="0"/>
            </a:br>
            <a:r>
              <a:rPr lang="en-US" dirty="0"/>
              <a:t>(AI Agent)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13B1909-37B0-4D29-8794-46E0A29D097A}"/>
              </a:ext>
            </a:extLst>
          </p:cNvPr>
          <p:cNvSpPr/>
          <p:nvPr/>
        </p:nvSpPr>
        <p:spPr>
          <a:xfrm>
            <a:off x="9991165" y="4614512"/>
            <a:ext cx="1828800" cy="1828800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Action Command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4A9C5AA-87BD-46E8-9551-8FA4C8C8C8A3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7086598" y="1958691"/>
            <a:ext cx="1156448" cy="513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3DF3EDC-BB33-471B-8C5E-3091E5F19811}"/>
              </a:ext>
            </a:extLst>
          </p:cNvPr>
          <p:cNvCxnSpPr/>
          <p:nvPr/>
        </p:nvCxnSpPr>
        <p:spPr>
          <a:xfrm>
            <a:off x="9439835" y="2401785"/>
            <a:ext cx="1196789" cy="582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1C30AE5-63E9-47E3-BAEE-69229901CE09}"/>
              </a:ext>
            </a:extLst>
          </p:cNvPr>
          <p:cNvCxnSpPr>
            <a:cxnSpLocks/>
            <a:stCxn id="9" idx="3"/>
          </p:cNvCxnSpPr>
          <p:nvPr/>
        </p:nvCxnSpPr>
        <p:spPr>
          <a:xfrm flipH="1">
            <a:off x="8081124" y="3479724"/>
            <a:ext cx="2682884" cy="761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CD38ED5-DDF0-41C3-92CB-AB5AF241FA52}"/>
              </a:ext>
            </a:extLst>
          </p:cNvPr>
          <p:cNvCxnSpPr>
            <a:stCxn id="19" idx="2"/>
          </p:cNvCxnSpPr>
          <p:nvPr/>
        </p:nvCxnSpPr>
        <p:spPr>
          <a:xfrm>
            <a:off x="8403851" y="4876730"/>
            <a:ext cx="1634378" cy="652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6833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i="0" dirty="0">
                <a:solidFill>
                  <a:srgbClr val="FF0000"/>
                </a:solidFill>
                <a:effectLst/>
                <a:latin typeface="Inter"/>
              </a:rPr>
              <a:t>The AI Brain: Generative AI at the Edge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F72960-806A-4E71-9CE8-D1876B706555}"/>
              </a:ext>
            </a:extLst>
          </p:cNvPr>
          <p:cNvSpPr txBox="1"/>
          <p:nvPr/>
        </p:nvSpPr>
        <p:spPr>
          <a:xfrm>
            <a:off x="1178859" y="2043953"/>
            <a:ext cx="9950823" cy="297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nter"/>
              </a:rPr>
              <a:t>Model Selection:</a:t>
            </a: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nter"/>
              </a:rPr>
              <a:t> We are using </a:t>
            </a:r>
            <a:r>
              <a:rPr lang="en-US" sz="16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nter"/>
              </a:rPr>
              <a:t>Quantized SLMs</a:t>
            </a: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nter"/>
              </a:rPr>
              <a:t> (Small Language Models).</a:t>
            </a:r>
          </a:p>
          <a:p>
            <a:pPr marL="742950" lvl="1" indent="-28575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00" b="0" i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nter"/>
              </a:rPr>
              <a:t>Why not </a:t>
            </a:r>
            <a:r>
              <a:rPr lang="en-US" sz="1600" b="0" i="1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nter"/>
              </a:rPr>
              <a:t>ChatGPT</a:t>
            </a:r>
            <a:r>
              <a:rPr lang="en-US" sz="1600" b="0" i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nter"/>
              </a:rPr>
              <a:t>?</a:t>
            </a: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nter"/>
              </a:rPr>
              <a:t> Cloud AI is too slow for real-time factory decisions and has privacy risks.</a:t>
            </a: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nter"/>
              </a:rPr>
              <a:t>Reasoning Process:</a:t>
            </a: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nter"/>
              </a:rPr>
              <a:t> The model uses </a:t>
            </a:r>
            <a:r>
              <a:rPr lang="en-US" sz="16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nter"/>
              </a:rPr>
              <a:t>RAG (Retrieval-Augmented Generation)</a:t>
            </a: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nter"/>
              </a:rPr>
              <a:t>.</a:t>
            </a:r>
          </a:p>
          <a:p>
            <a:pPr marL="742950" lvl="1" indent="-28575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nter"/>
              </a:rPr>
              <a:t>It looks at sensor data + It "retrieves" the machine’s service manual from a local database.</a:t>
            </a:r>
          </a:p>
          <a:p>
            <a:pPr marL="742950" lvl="1" indent="-28575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nter"/>
              </a:rPr>
              <a:t>It "generates" a diagnosis: </a:t>
            </a:r>
            <a:r>
              <a:rPr lang="en-US" sz="1600" b="0" i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Inter"/>
              </a:rPr>
              <a:t>"Vibration at 4kHz suggests a loose spindle bolt. Order a 10mm hex wrench for repair."</a:t>
            </a:r>
            <a:endParaRPr lang="en-US" sz="1600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32867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FF0000"/>
                </a:solidFill>
                <a:effectLst/>
                <a:latin typeface="Inter"/>
              </a:rPr>
              <a:t>Security &amp; Privacy Measures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490408-7F4C-41B0-90CA-7AF347A1DADD}"/>
              </a:ext>
            </a:extLst>
          </p:cNvPr>
          <p:cNvSpPr txBox="1"/>
          <p:nvPr/>
        </p:nvSpPr>
        <p:spPr>
          <a:xfrm>
            <a:off x="3447093" y="1601030"/>
            <a:ext cx="4719918" cy="4449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Encryption:</a:t>
            </a: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Using </a:t>
            </a:r>
            <a:r>
              <a:rPr lang="en-US" sz="16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TLS 1.3</a:t>
            </a: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all MQTT traffic to prevent "man-in-the-middle" attacks.</a:t>
            </a:r>
          </a:p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Device Authentication:</a:t>
            </a: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Each sensor must have a unique </a:t>
            </a:r>
            <a:r>
              <a:rPr lang="en-US" sz="16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X.509 Certificate</a:t>
            </a: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to talk to the gateway.</a:t>
            </a:r>
          </a:p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 Processing:</a:t>
            </a: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Since the </a:t>
            </a:r>
            <a:r>
              <a:rPr lang="en-US" sz="1600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GenAI</a:t>
            </a: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runs locally (on-premise), sensitive factory data never leaves the building. This eliminates "Data Leakage" risks common with public AI.</a:t>
            </a:r>
          </a:p>
          <a:p>
            <a:pPr>
              <a:lnSpc>
                <a:spcPct val="200000"/>
              </a:lnSpc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A9CBE51-72E4-461F-98D5-03E7508AD3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167011" y="1480837"/>
            <a:ext cx="3693295" cy="245795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03825DA-4C74-4932-96EB-945050186E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44849" y="4449028"/>
            <a:ext cx="2915210" cy="171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668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FF0000"/>
                </a:solidFill>
                <a:effectLst/>
                <a:latin typeface="Inter"/>
              </a:rPr>
              <a:t>Theoretical Testing Strategy</a:t>
            </a: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FB8FFBEA-4BC1-4F12-A5E3-A5937AE8F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8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70383F-1D30-453D-BA73-F861DC39A7E1}"/>
              </a:ext>
            </a:extLst>
          </p:cNvPr>
          <p:cNvSpPr txBox="1"/>
          <p:nvPr/>
        </p:nvSpPr>
        <p:spPr>
          <a:xfrm>
            <a:off x="820271" y="3119718"/>
            <a:ext cx="8767482" cy="1102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FD8B5A-BB71-48E5-AF48-A23094336350}"/>
              </a:ext>
            </a:extLst>
          </p:cNvPr>
          <p:cNvSpPr txBox="1"/>
          <p:nvPr/>
        </p:nvSpPr>
        <p:spPr>
          <a:xfrm>
            <a:off x="1174376" y="1692619"/>
            <a:ext cx="9843247" cy="3956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Phase 1: Latency Stress Test:</a:t>
            </a:r>
            <a:endParaRPr lang="en-US" sz="1600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Simulate 500 sensors firing at once. Measure if the Edge Agent can process all data in &lt;1 second.</a:t>
            </a: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Phase 2: Accuracy "Sandbox":</a:t>
            </a:r>
            <a:endParaRPr lang="en-US" sz="1600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Feed the AI "historical failure data" to see if it correctly identifies a breakdown before it happens.</a:t>
            </a: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Phase 3: The "Kill Switch" Test:</a:t>
            </a:r>
            <a:endParaRPr lang="en-US" sz="1600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the autonomous agent cannot override critical safety protocols (e.g., if the AI suggests "keep running," but the hardware temp sensor hits a hard limit, the machine must shut down).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326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i="0" dirty="0">
                <a:solidFill>
                  <a:srgbClr val="D4D4D4"/>
                </a:solidFill>
                <a:effectLst/>
                <a:latin typeface="Inter"/>
              </a:rPr>
              <a:t>Challenges &amp; Trade-offs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35D56E-80EA-4FDF-8A2B-C5A8C7D4C0BF}"/>
              </a:ext>
            </a:extLst>
          </p:cNvPr>
          <p:cNvSpPr txBox="1"/>
          <p:nvPr/>
        </p:nvSpPr>
        <p:spPr>
          <a:xfrm>
            <a:off x="766482" y="2864224"/>
            <a:ext cx="10824883" cy="388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 Limitations:</a:t>
            </a:r>
            <a:r>
              <a:rPr lang="en-US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Running </a:t>
            </a:r>
            <a:r>
              <a:rPr lang="en-US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GenAI</a:t>
            </a:r>
            <a:r>
              <a:rPr lang="en-US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 a small Edge box is hard. We have to balance model "intelligence" vs. "speed."</a:t>
            </a: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Hallucinations:</a:t>
            </a:r>
            <a:r>
              <a:rPr lang="en-US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GenAI</a:t>
            </a:r>
            <a:r>
              <a:rPr lang="en-US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can be over-confident.</a:t>
            </a:r>
          </a:p>
          <a:p>
            <a:pPr marL="742950" lvl="1" indent="-28575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0" i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US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We implement a "Confidence Score." If the AI is less than 85% sure, it must ask a human engineer before taking action.</a:t>
            </a: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 Cost:</a:t>
            </a:r>
            <a:r>
              <a:rPr lang="en-US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Industrial Edge hardware is more expensive than standard cloud-only setups.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025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5B4C95FA-0292-49D8-968E-33A655059344}"/>
              </a:ext>
            </a:extLst>
          </p:cNvPr>
          <p:cNvSpPr txBox="1"/>
          <p:nvPr/>
        </p:nvSpPr>
        <p:spPr>
          <a:xfrm>
            <a:off x="1358153" y="3321424"/>
            <a:ext cx="10215282" cy="3330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Summary:</a:t>
            </a:r>
            <a:r>
              <a:rPr lang="en-US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Project Aegis shows that </a:t>
            </a:r>
            <a:r>
              <a:rPr lang="en-US" b="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GenAI</a:t>
            </a:r>
            <a:r>
              <a:rPr lang="en-US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not just for chatbots; it is a tool for industrial autonomy.</a:t>
            </a:r>
          </a:p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Scalability:</a:t>
            </a:r>
            <a:endParaRPr lang="en-US" b="0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Expand to "Fleet Management" where one AI agent monitors 100+ machines.</a:t>
            </a:r>
          </a:p>
          <a:p>
            <a:pPr marL="742950" lvl="1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"Vision AI" so the agent can "see" smoke or leaks via cameras.</a:t>
            </a:r>
          </a:p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Closing:</a:t>
            </a:r>
            <a:r>
              <a:rPr lang="en-US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Moving intelligence to the Edge is the only way to achieve true "Industry 4.0."</a:t>
            </a:r>
          </a:p>
          <a:p>
            <a:pPr>
              <a:lnSpc>
                <a:spcPct val="200000"/>
              </a:lnSpc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4049AF-E7DC-4317-8CFD-6699041B2D0D}"/>
              </a:ext>
            </a:extLst>
          </p:cNvPr>
          <p:cNvSpPr txBox="1"/>
          <p:nvPr/>
        </p:nvSpPr>
        <p:spPr>
          <a:xfrm>
            <a:off x="954741" y="1742609"/>
            <a:ext cx="480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D4D4D4"/>
                </a:solidFill>
                <a:effectLst/>
                <a:latin typeface="Inter"/>
              </a:rPr>
              <a:t> Conclusion &amp; Future Work</a:t>
            </a:r>
          </a:p>
        </p:txBody>
      </p:sp>
    </p:spTree>
    <p:extLst>
      <p:ext uri="{BB962C8B-B14F-4D97-AF65-F5344CB8AC3E}">
        <p14:creationId xmlns:p14="http://schemas.microsoft.com/office/powerpoint/2010/main" val="149393541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 v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2FC9C26-AD58-4393-99DE-F67958CF6A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A3EE4EA-81C0-48D0-BEBD-A2EFD6B38B4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563EE24-83AF-4B4D-B45B-11D1ECD4364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{599DA879-2E15-416C-BDC8-68B94943AC3A}TF2989475c-5427-4edb-9ec1-00f4ce72165b77c8433f_win32-c33c42577f73</Template>
  <TotalTime>118</TotalTime>
  <Words>790</Words>
  <Application>Microsoft Office PowerPoint</Application>
  <PresentationFormat>Widescreen</PresentationFormat>
  <Paragraphs>68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Inter</vt:lpstr>
      <vt:lpstr>Segoe UI</vt:lpstr>
      <vt:lpstr>Segoe UI Light</vt:lpstr>
      <vt:lpstr>Times New Roman</vt:lpstr>
      <vt:lpstr>Wingdings</vt:lpstr>
      <vt:lpstr>Custom</vt:lpstr>
      <vt:lpstr>Project Aegis: Autonomous GenAI Agent for Industrial Predictive Maintenance </vt:lpstr>
      <vt:lpstr>The Problem &amp; The Vision</vt:lpstr>
      <vt:lpstr>Project Scope &amp; Objectives</vt:lpstr>
      <vt:lpstr>Conceptual System Architecture</vt:lpstr>
      <vt:lpstr>Data Flows &amp; Protocols (The Technicals)</vt:lpstr>
      <vt:lpstr>The AI Brain: Generative AI at the Edge</vt:lpstr>
      <vt:lpstr>Security &amp; Privacy Measures</vt:lpstr>
      <vt:lpstr>Theoretical Testing Strategy</vt:lpstr>
      <vt:lpstr>Challenges &amp; Trade-offs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Aegis: Autonomous GenAI Agent for Industrial Predictive Maintenance </dc:title>
  <dc:creator>Amos Titus</dc:creator>
  <cp:keywords/>
  <cp:lastModifiedBy>Amos Titus</cp:lastModifiedBy>
  <cp:revision>11</cp:revision>
  <dcterms:created xsi:type="dcterms:W3CDTF">2026-05-02T07:05:31Z</dcterms:created>
  <dcterms:modified xsi:type="dcterms:W3CDTF">2026-05-02T09:03:52Z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